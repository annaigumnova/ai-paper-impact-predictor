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NLP Techniques</c:v>
                </c:pt>
              </c:strCache>
            </c:strRef>
          </c:tx>
          <c:spPr>
            <a:solidFill>
              <a:srgbClr val="1C7293"/>
            </a:solidFill>
            <a:ln w="2286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5400</c:v>
                </c:pt>
                <c:pt idx="1">
                  <c:v>5800</c:v>
                </c:pt>
                <c:pt idx="2">
                  <c:v>5000</c:v>
                </c:pt>
                <c:pt idx="3">
                  <c:v>5400</c:v>
                </c:pt>
                <c:pt idx="4">
                  <c:v>5500</c:v>
                </c:pt>
                <c:pt idx="5">
                  <c:v>5500</c:v>
                </c:pt>
                <c:pt idx="6">
                  <c:v>4600</c:v>
                </c:pt>
                <c:pt idx="7">
                  <c:v>4100</c:v>
                </c:pt>
                <c:pt idx="8">
                  <c:v>2200</c:v>
                </c:pt>
                <c:pt idx="9">
                  <c:v>2900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Topic Modeling</c:v>
                </c:pt>
              </c:strCache>
            </c:strRef>
          </c:tx>
          <c:spPr>
            <a:solidFill>
              <a:srgbClr val="02C39A"/>
            </a:solidFill>
            <a:ln w="2286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2000</c:v>
                </c:pt>
                <c:pt idx="1">
                  <c:v>2100</c:v>
                </c:pt>
                <c:pt idx="2">
                  <c:v>2000</c:v>
                </c:pt>
                <c:pt idx="3">
                  <c:v>2200</c:v>
                </c:pt>
                <c:pt idx="4">
                  <c:v>2500</c:v>
                </c:pt>
                <c:pt idx="5">
                  <c:v>5500</c:v>
                </c:pt>
                <c:pt idx="6">
                  <c:v>4300</c:v>
                </c:pt>
                <c:pt idx="7">
                  <c:v>6400</c:v>
                </c:pt>
                <c:pt idx="8">
                  <c:v>8600</c:v>
                </c:pt>
                <c:pt idx="9">
                  <c:v>7600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Neural Networks</c:v>
                </c:pt>
              </c:strCache>
            </c:strRef>
          </c:tx>
          <c:spPr>
            <a:solidFill>
              <a:srgbClr val="EF4444"/>
            </a:solidFill>
            <a:ln w="2286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2900</c:v>
                </c:pt>
                <c:pt idx="1">
                  <c:v>3100</c:v>
                </c:pt>
                <c:pt idx="2">
                  <c:v>3100</c:v>
                </c:pt>
                <c:pt idx="3">
                  <c:v>3900</c:v>
                </c:pt>
                <c:pt idx="4">
                  <c:v>3400</c:v>
                </c:pt>
                <c:pt idx="5">
                  <c:v>1000</c:v>
                </c:pt>
                <c:pt idx="6">
                  <c:v>1100</c:v>
                </c:pt>
                <c:pt idx="7">
                  <c:v>2200</c:v>
                </c:pt>
                <c:pt idx="8">
                  <c:v>6000</c:v>
                </c:pt>
                <c:pt idx="9">
                  <c:v>6100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Sentiment Analysis</c:v>
                </c:pt>
              </c:strCache>
            </c:strRef>
          </c:tx>
          <c:spPr>
            <a:solidFill>
              <a:srgbClr val="7C3AED"/>
            </a:solidFill>
            <a:ln w="2286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2100</c:v>
                </c:pt>
                <c:pt idx="1">
                  <c:v>2000</c:v>
                </c:pt>
                <c:pt idx="2">
                  <c:v>1900</c:v>
                </c:pt>
                <c:pt idx="3">
                  <c:v>2100</c:v>
                </c:pt>
                <c:pt idx="4">
                  <c:v>2400</c:v>
                </c:pt>
                <c:pt idx="5">
                  <c:v>2600</c:v>
                </c:pt>
                <c:pt idx="6">
                  <c:v>2600</c:v>
                </c:pt>
                <c:pt idx="7">
                  <c:v>2900</c:v>
                </c:pt>
                <c:pt idx="8">
                  <c:v>3200</c:v>
                </c:pt>
                <c:pt idx="9">
                  <c:v>3500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Speech Recognition</c:v>
                </c:pt>
              </c:strCache>
            </c:strRef>
          </c:tx>
          <c:spPr>
            <a:solidFill>
              <a:srgbClr val="F59E0B"/>
            </a:solidFill>
            <a:ln w="2286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1800</c:v>
                </c:pt>
                <c:pt idx="1">
                  <c:v>1900</c:v>
                </c:pt>
                <c:pt idx="2">
                  <c:v>1800</c:v>
                </c:pt>
                <c:pt idx="3">
                  <c:v>2000</c:v>
                </c:pt>
                <c:pt idx="4">
                  <c:v>2100</c:v>
                </c:pt>
                <c:pt idx="5">
                  <c:v>2200</c:v>
                </c:pt>
                <c:pt idx="6">
                  <c:v>2300</c:v>
                </c:pt>
                <c:pt idx="7">
                  <c:v>2500</c:v>
                </c:pt>
                <c:pt idx="8">
                  <c:v>2700</c:v>
                </c:pt>
                <c:pt idx="9">
                  <c:v>2900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Anomaly Detection</c:v>
                </c:pt>
              </c:strCache>
            </c:strRef>
          </c:tx>
          <c:spPr>
            <a:solidFill>
              <a:srgbClr val="10B981"/>
            </a:solidFill>
            <a:ln w="2286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1600</c:v>
                </c:pt>
                <c:pt idx="1">
                  <c:v>1700</c:v>
                </c:pt>
                <c:pt idx="2">
                  <c:v>1800</c:v>
                </c:pt>
                <c:pt idx="3">
                  <c:v>1900</c:v>
                </c:pt>
                <c:pt idx="4">
                  <c:v>2200</c:v>
                </c:pt>
                <c:pt idx="5">
                  <c:v>2500</c:v>
                </c:pt>
                <c:pt idx="6">
                  <c:v>2700</c:v>
                </c:pt>
                <c:pt idx="7">
                  <c:v>3000</c:v>
                </c:pt>
                <c:pt idx="8">
                  <c:v>3300</c:v>
                </c:pt>
                <c:pt idx="9">
                  <c:v>3600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Evolutionary Alg.</c:v>
                </c:pt>
              </c:strCache>
            </c:strRef>
          </c:tx>
          <c:spPr>
            <a:solidFill>
              <a:srgbClr val="64748B"/>
            </a:solidFill>
            <a:ln w="2286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Sheet1!$H$2:$H$11</c:f>
              <c:numCache>
                <c:formatCode>General</c:formatCode>
                <c:ptCount val="10"/>
                <c:pt idx="0">
                  <c:v>900</c:v>
                </c:pt>
                <c:pt idx="1">
                  <c:v>950</c:v>
                </c:pt>
                <c:pt idx="2">
                  <c:v>850</c:v>
                </c:pt>
                <c:pt idx="3">
                  <c:v>900</c:v>
                </c:pt>
                <c:pt idx="4">
                  <c:v>950</c:v>
                </c:pt>
                <c:pt idx="5">
                  <c:v>1000</c:v>
                </c:pt>
                <c:pt idx="6">
                  <c:v>1050</c:v>
                </c:pt>
                <c:pt idx="7">
                  <c:v>1100</c:v>
                </c:pt>
                <c:pt idx="8">
                  <c:v>1000</c:v>
                </c:pt>
                <c:pt idx="9">
                  <c:v>950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Quantum Computing</c:v>
                </c:pt>
              </c:strCache>
            </c:strRef>
          </c:tx>
          <c:spPr>
            <a:solidFill>
              <a:srgbClr val="0EA5E9"/>
            </a:solidFill>
            <a:ln w="2286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Sheet1!$I$2:$I$11</c:f>
              <c:numCache>
                <c:formatCode>General</c:formatCode>
                <c:ptCount val="10"/>
                <c:pt idx="0">
                  <c:v>1400</c:v>
                </c:pt>
                <c:pt idx="1">
                  <c:v>1500</c:v>
                </c:pt>
                <c:pt idx="2">
                  <c:v>1600</c:v>
                </c:pt>
                <c:pt idx="3">
                  <c:v>1800</c:v>
                </c:pt>
                <c:pt idx="4">
                  <c:v>2000</c:v>
                </c:pt>
                <c:pt idx="5">
                  <c:v>2200</c:v>
                </c:pt>
                <c:pt idx="6">
                  <c:v>2500</c:v>
                </c:pt>
                <c:pt idx="7">
                  <c:v>2800</c:v>
                </c:pt>
                <c:pt idx="8">
                  <c:v>3800</c:v>
                </c:pt>
                <c:pt idx="9">
                  <c:v>4200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Privacy-Preserving</c:v>
                </c:pt>
              </c:strCache>
            </c:strRef>
          </c:tx>
          <c:spPr>
            <a:solidFill>
              <a:srgbClr val="F97316"/>
            </a:solidFill>
            <a:ln w="2286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Sheet1!$J$2:$J$11</c:f>
              <c:numCache>
                <c:formatCode>General</c:formatCode>
                <c:ptCount val="10"/>
                <c:pt idx="0">
                  <c:v>1200</c:v>
                </c:pt>
                <c:pt idx="1">
                  <c:v>1300</c:v>
                </c:pt>
                <c:pt idx="2">
                  <c:v>1500</c:v>
                </c:pt>
                <c:pt idx="3">
                  <c:v>1800</c:v>
                </c:pt>
                <c:pt idx="4">
                  <c:v>2100</c:v>
                </c:pt>
                <c:pt idx="5">
                  <c:v>2500</c:v>
                </c:pt>
                <c:pt idx="6">
                  <c:v>2800</c:v>
                </c:pt>
                <c:pt idx="7">
                  <c:v>3100</c:v>
                </c:pt>
                <c:pt idx="8">
                  <c:v>3400</c:v>
                </c:pt>
                <c:pt idx="9">
                  <c:v>3600</c:v>
                </c:pt>
              </c:numCache>
            </c:numRef>
          </c:val>
          <c:smooth val="1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Metaheuristic Opt.</c:v>
                </c:pt>
              </c:strCache>
            </c:strRef>
          </c:tx>
          <c:spPr>
            <a:solidFill>
              <a:srgbClr val="EC4899"/>
            </a:solidFill>
            <a:ln w="22860" cap="flat">
              <a:solidFill>
                <a:srgbClr val="EC48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C4899"/>
              </a:solidFill>
              <a:ln w="9525" cap="flat">
                <a:solidFill>
                  <a:srgbClr val="EC48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Sheet1!$K$2:$K$11</c:f>
              <c:numCache>
                <c:formatCode>General</c:formatCode>
                <c:ptCount val="10"/>
                <c:pt idx="0">
                  <c:v>1100</c:v>
                </c:pt>
                <c:pt idx="1">
                  <c:v>1200</c:v>
                </c:pt>
                <c:pt idx="2">
                  <c:v>1300</c:v>
                </c:pt>
                <c:pt idx="3">
                  <c:v>1500</c:v>
                </c:pt>
                <c:pt idx="4">
                  <c:v>1700</c:v>
                </c:pt>
                <c:pt idx="5">
                  <c:v>1900</c:v>
                </c:pt>
                <c:pt idx="6">
                  <c:v>2100</c:v>
                </c:pt>
                <c:pt idx="7">
                  <c:v>2300</c:v>
                </c:pt>
                <c:pt idx="8">
                  <c:v>2500</c:v>
                </c:pt>
                <c:pt idx="9">
                  <c:v>2600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Paper Volume vs High Impact Rate by Topic (our dataset)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Papers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Evolutionary Alg.</c:v>
                  </c:pt>
                  <c:pt idx="1">
                    <c:v>Metaheuristic Opt.</c:v>
                  </c:pt>
                  <c:pt idx="2">
                    <c:v>Speech Recognition</c:v>
                  </c:pt>
                  <c:pt idx="3">
                    <c:v>Quantum Computing</c:v>
                  </c:pt>
                  <c:pt idx="4">
                    <c:v>Sentiment Analysis</c:v>
                  </c:pt>
                  <c:pt idx="5">
                    <c:v>Privacy-Preserving</c:v>
                  </c:pt>
                  <c:pt idx="6">
                    <c:v>Anomaly Detection</c:v>
                  </c:pt>
                  <c:pt idx="7">
                    <c:v>Neural Networks</c:v>
                  </c:pt>
                  <c:pt idx="8">
                    <c:v>Topic Modeling</c:v>
                  </c:pt>
                  <c:pt idx="9">
                    <c:v>NLP Techniques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7861</c:v>
                </c:pt>
                <c:pt idx="1">
                  <c:v>21356</c:v>
                </c:pt>
                <c:pt idx="2">
                  <c:v>21173</c:v>
                </c:pt>
                <c:pt idx="3">
                  <c:v>24258</c:v>
                </c:pt>
                <c:pt idx="4">
                  <c:v>26015</c:v>
                </c:pt>
                <c:pt idx="5">
                  <c:v>27136</c:v>
                </c:pt>
                <c:pt idx="6">
                  <c:v>28186</c:v>
                </c:pt>
                <c:pt idx="7">
                  <c:v>34497</c:v>
                </c:pt>
                <c:pt idx="8">
                  <c:v>48744</c:v>
                </c:pt>
                <c:pt idx="9">
                  <c:v>53776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3200400" cy="32004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FINAL PROJECT  •  DATA SCIENCE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Paper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Predictor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citation impact at publication time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and OpenAlex metadata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49884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293,000 papers  •  2015–2024  •  10 AI topics  •  OpenAlex API  •  PyCaret  •  Gradient Boosting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IS GROWING RAPIDLY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737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242K+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publications in CS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in 2023 alone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2025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737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078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publications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→ 2023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2025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078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ever become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cited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definition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1005840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880360"/>
            <a:ext cx="79552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highly cited is an essential academic benchmark — it validates ideas, unlocks further funding, and creates a feedback loop where visibility breeds more visibility.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4023360"/>
            <a:ext cx="9144000" cy="749808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507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papers that genuinely matter is getting harder every year. How to process this volume?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FACING THIS PROBLEM?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publishers, research funders and universities spend millions deciding which research fields to invest in. Most of the time these decisions are made reactively — based on what is already mainstream, based on citation trends already visible. They need a tool that helps make decisions for the future.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27632"/>
            <a:ext cx="27432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01368"/>
            <a:ext cx="731520" cy="73152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3852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Publishers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submissions arrive every week. Which ones deserve fast-track review? Which will define a field in five years? These decisions shape a journal's reputation for decades.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4544568"/>
            <a:ext cx="2468880" cy="27432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544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impact = missed prestige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162763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27632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1801368"/>
            <a:ext cx="731520" cy="7315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3852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Funders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3756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are allocated to research directions — often before those fields have proven themselves. Back the wrong direction and the money is wasted. Back the right one too late and someone else captured the opportunity.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337560" y="4544568"/>
            <a:ext cx="2468880" cy="27432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37560" y="4544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bets = wasted millions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26480" y="162763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627632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132320" y="1801368"/>
            <a:ext cx="731520" cy="7315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3852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Strategy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26364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decisions, new research labs, strategic partnerships — all depend on identifying which AI subfields are genuinely rising, not just loudly trending.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263640" y="4544568"/>
            <a:ext cx="246888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63640" y="4544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decisions = lost talent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model built to help publishers, funders and universities identify high-impact research at publication time — using only metadata available at submission.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286000" cy="1463040"/>
          </a:xfrm>
          <a:prstGeom prst="rect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inputs 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97480" y="2331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2286000" cy="1463040"/>
          </a:xfrm>
          <a:prstGeom prst="rect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0896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(GBC Tuned)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293K papers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49240" y="2331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669280" y="1828800"/>
            <a:ext cx="2286000" cy="1463040"/>
          </a:xfrm>
          <a:prstGeom prst="rect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6072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of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594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564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293,000 AI papers  •  2015–2024  •  10 topics  •  OpenAlex API  •  Gradient Boosting Classifier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206240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" y="4187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publication time — no waiting years for citations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35424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" y="45171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text, no author history, no prior citations needed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6460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1520" y="4846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— SHAP shows exactly why each paper scored as it did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IN AI RESEARCH 2015–2024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volume across 10 AI topics — from our dataset of 293,000 papers.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417320"/>
          <a:ext cx="58521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4630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1463040"/>
            <a:ext cx="6400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5361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from ~2,000 papers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2019 to 8,500 in 2023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driven by LLM boom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65176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651760"/>
            <a:ext cx="64008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7249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Neural Nets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topics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lowest impact rates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crowding effect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84048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84048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0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inflection point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almost every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spiked sharply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from our dataset of 293,000 papers became the key features driving the model's predictions.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7160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1790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1847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model feature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6576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Breadth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414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citing prior work more broadly have consistently higher impact. Strongest predictor confirmed by EDA, Mann-Whitney, feature importance and SHAP.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36392" y="1371600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36392" y="13716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517904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85032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685032" y="1847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be highly cited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273552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Funding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73552" y="2414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papers: 31% high impact rate vs 13% for unfunded. Reflects both resource advantage and funding agency selection effect.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44184" y="1371600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44184" y="1371600"/>
            <a:ext cx="27432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517904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92824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592824" y="1847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collaboration signal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181344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Collaboration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181344" y="2414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Countries, unique institutions and author count all independently predict high impact. Papers with broader international teams consistently outperform single-country work.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228600" y="3182112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28600" y="3182112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28416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77240" y="32735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777240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15.6% closed access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36576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Open Access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65760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OA papers are nearly 2× more likely to be highly cited. Freely available research gets read and cited more widely — visibility breeds visibility.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136392" y="3182112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136392" y="3182112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328416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685032" y="32735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3685032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15.2% for proceedings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3273552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Type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3273552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articles have nearly double the high impact rate of conference proceedings. More rigorous peer review and permanent indexing drive long-term citation advantage.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6044184" y="3182112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044184" y="3182112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3328416"/>
            <a:ext cx="320040" cy="32004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592824" y="32735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6–42%</a:t>
            </a:r>
            <a:endParaRPr lang="en-US" sz="2200" dirty="0"/>
          </a:p>
        </p:txBody>
      </p:sp>
      <p:sp>
        <p:nvSpPr>
          <p:cNvPr id="45" name="Text 37"/>
          <p:cNvSpPr/>
          <p:nvPr/>
        </p:nvSpPr>
        <p:spPr>
          <a:xfrm>
            <a:off x="6592824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across 10 topics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6181344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Topic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6181344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matters enormously. Metaheuristic Optimization leads at 28%. NLP and Neural Networks are lowest at 10% and 9% — crowding dilutes impact rate.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INSIGHTS FROM 293K PAPERS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2618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252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532120" y="161391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6047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32120" y="19659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9568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23180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23088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32120" y="267004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609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32120" y="30220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0129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32120" y="33741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33649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32120" y="37261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37170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532120" y="407822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4069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32120" y="443026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44211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" y="46634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617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High impact rate %  (green = highest, red = lowest)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85216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contradicts: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852160" y="146304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852160" y="146304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627632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355080" y="1554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dilutes impact rate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355080" y="18745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(53K papers, 10% impact) and Neural Networks (34K papers, 9% impact) — the most published fields have the lowest impact rates.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852160" y="2624328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852160" y="2624328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788920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355080" y="2715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beats specialist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355080" y="30358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OpenAlex can't easily fit into one topic — lower primary topic score — are MORE likely to be high impact. Cross-field work attracts broader citations.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5852160" y="3785616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5852160" y="3785616"/>
            <a:ext cx="64008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950208"/>
            <a:ext cx="320040" cy="32004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355080" y="3877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fields punch above their weight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6355080" y="41970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 Optimization has just 21K papers but a 28% impact rate. Evolutionary Algorithms — the smallest field — reaches 19%.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is a screening tool, not a decision maker. It helps prioritise which papers to review first — not whether a paper is good or bad.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41148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116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600200" y="2039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72491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makes the correct prediction 8 out of 10 times.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920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920240"/>
            <a:ext cx="41148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116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943600" y="2039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72491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better at ranking high-impact papers than random chance.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2900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20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600200" y="3547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64% of all high-impact papers — 6 in 10.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429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429000"/>
            <a:ext cx="411480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520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5943600" y="3547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423367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predicts high impact, it is correct about half the time.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Gradient Boosting Classifier  •  Trained on 293,000 papers  •  Dataset: OpenAlex API  •  Compared 15 models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09728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Paper Impact Predictor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6712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paper metadata — years since publication, references, authors, topic, OA status, funding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0720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82549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a probability score: how likely is this paper to become highly cited?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65576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48386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— which features drove this specific prediction and why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123944"/>
            <a:ext cx="365760" cy="365760"/>
          </a:xfrm>
          <a:prstGeom prst="ellipse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1422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input — remove funding, switch to proceedings — watch the score respond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216152"/>
            <a:ext cx="80467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1615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34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207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Maturity Bias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8912" y="161848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uses cumulative citations — addressed in the app by letting users set their own time horizon. Users choose how many years to give a paper to accumulate citations, removing the bias at input level. Full fix at model level is in development.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301752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3182112"/>
            <a:ext cx="80467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1821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2004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Only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38912" y="35844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text, no abstract content, no author reputation scores. Significant predictive signal is likely still on the table.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0" y="105156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863840" y="1216152"/>
            <a:ext cx="80467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863840" y="121615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23444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03520" y="1207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Topics Only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919472" y="161848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10 AI subfields from OpenAlex. Generalisation to other research disciplines requires retraining on new data.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5488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3017520"/>
            <a:ext cx="41148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863840" y="3182112"/>
            <a:ext cx="804672" cy="256032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863840" y="31821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20040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03520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Coverage Gaps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919472" y="35844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papers have missing country, institution and reference data. Missingness flags partially address this but the underlying gap remains.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978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51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Citation Maturity Bias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4173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 target using first-year citations — removes year bias. first_year_citations already available in dataset, ready to implement.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96012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960120"/>
            <a:ext cx="64008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1978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51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 / Test Split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57800" y="14173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2015–2021, test on 2022–2024. More realistic evaluation — best done alongside the target redefinition above.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224028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24028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780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Quality Features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2697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CORE conference ranking and Scimago journal quartile — strong signal not yet captured by the model.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17720" y="224028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17720" y="224028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47802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Text Features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257800" y="2697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returns abstract inverted index. NLP features on abstract content could significantly improve recall.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352044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52044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75818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Reputation Features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14400" y="3977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h-index at time of publication per author. A strong known signal — requires historical snapshot data not yet collected.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17720" y="352044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64748B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617720" y="3520440"/>
            <a:ext cx="64008" cy="1143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375818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57800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Works Citation Quality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257800" y="3977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cited papers as a feature — currently blocked by the scale of 1.7M unique referenced work IDs in the dataset.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02C39A">
                <a:alpha val="9000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6 in 10 high-impact papers identified at publication time.  With these improvements: 8 in 10.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6858000" cy="1188720"/>
          </a:xfrm>
          <a:prstGeom prst="rect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59152"/>
            <a:ext cx="649224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 10 high-impact AI papers identified at publication time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metadata — no full text, no citations, no author history required.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OpenAlex API (openalex.org)  •  Volume source: Stanford AI Index 2025  •  293,000 papers  •  2015–2024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Paper Impact Predictor  •  Bootcamp Final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Paper Impact Predictor</dc:title>
  <dc:subject>PptxGenJS Presentation</dc:subject>
  <dc:creator>PptxGenJS</dc:creator>
  <cp:lastModifiedBy>PptxGenJS</cp:lastModifiedBy>
  <cp:revision>1</cp:revision>
  <dcterms:created xsi:type="dcterms:W3CDTF">2026-04-04T16:28:01Z</dcterms:created>
  <dcterms:modified xsi:type="dcterms:W3CDTF">2026-04-04T16:28:01Z</dcterms:modified>
</cp:coreProperties>
</file>