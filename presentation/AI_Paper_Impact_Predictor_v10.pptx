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NLP Techniques</c:v>
                </c:pt>
              </c:strCache>
            </c:strRef>
          </c:tx>
          <c:spPr>
            <a:solidFill>
              <a:srgbClr val="1C7293"/>
            </a:solidFill>
            <a:ln w="2286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5400</c:v>
                </c:pt>
                <c:pt idx="1">
                  <c:v>5800</c:v>
                </c:pt>
                <c:pt idx="2">
                  <c:v>5000</c:v>
                </c:pt>
                <c:pt idx="3">
                  <c:v>5400</c:v>
                </c:pt>
                <c:pt idx="4">
                  <c:v>5500</c:v>
                </c:pt>
                <c:pt idx="5">
                  <c:v>5500</c:v>
                </c:pt>
                <c:pt idx="6">
                  <c:v>4600</c:v>
                </c:pt>
                <c:pt idx="7">
                  <c:v>4100</c:v>
                </c:pt>
                <c:pt idx="8">
                  <c:v>2200</c:v>
                </c:pt>
                <c:pt idx="9">
                  <c:v>2900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Topic Modeling</c:v>
                </c:pt>
              </c:strCache>
            </c:strRef>
          </c:tx>
          <c:spPr>
            <a:solidFill>
              <a:srgbClr val="02C39A"/>
            </a:solidFill>
            <a:ln w="2286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2000</c:v>
                </c:pt>
                <c:pt idx="1">
                  <c:v>2100</c:v>
                </c:pt>
                <c:pt idx="2">
                  <c:v>2000</c:v>
                </c:pt>
                <c:pt idx="3">
                  <c:v>2200</c:v>
                </c:pt>
                <c:pt idx="4">
                  <c:v>2500</c:v>
                </c:pt>
                <c:pt idx="5">
                  <c:v>5500</c:v>
                </c:pt>
                <c:pt idx="6">
                  <c:v>4300</c:v>
                </c:pt>
                <c:pt idx="7">
                  <c:v>6400</c:v>
                </c:pt>
                <c:pt idx="8">
                  <c:v>8600</c:v>
                </c:pt>
                <c:pt idx="9">
                  <c:v>7600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Neural Networks</c:v>
                </c:pt>
              </c:strCache>
            </c:strRef>
          </c:tx>
          <c:spPr>
            <a:solidFill>
              <a:srgbClr val="EF4444"/>
            </a:solidFill>
            <a:ln w="2286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2900</c:v>
                </c:pt>
                <c:pt idx="1">
                  <c:v>3100</c:v>
                </c:pt>
                <c:pt idx="2">
                  <c:v>3100</c:v>
                </c:pt>
                <c:pt idx="3">
                  <c:v>3900</c:v>
                </c:pt>
                <c:pt idx="4">
                  <c:v>3400</c:v>
                </c:pt>
                <c:pt idx="5">
                  <c:v>1000</c:v>
                </c:pt>
                <c:pt idx="6">
                  <c:v>1100</c:v>
                </c:pt>
                <c:pt idx="7">
                  <c:v>2200</c:v>
                </c:pt>
                <c:pt idx="8">
                  <c:v>6000</c:v>
                </c:pt>
                <c:pt idx="9">
                  <c:v>6100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Sentiment Analysis</c:v>
                </c:pt>
              </c:strCache>
            </c:strRef>
          </c:tx>
          <c:spPr>
            <a:solidFill>
              <a:srgbClr val="7C3AED"/>
            </a:solidFill>
            <a:ln w="2286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2100</c:v>
                </c:pt>
                <c:pt idx="1">
                  <c:v>2000</c:v>
                </c:pt>
                <c:pt idx="2">
                  <c:v>1900</c:v>
                </c:pt>
                <c:pt idx="3">
                  <c:v>2100</c:v>
                </c:pt>
                <c:pt idx="4">
                  <c:v>2400</c:v>
                </c:pt>
                <c:pt idx="5">
                  <c:v>2600</c:v>
                </c:pt>
                <c:pt idx="6">
                  <c:v>2600</c:v>
                </c:pt>
                <c:pt idx="7">
                  <c:v>2900</c:v>
                </c:pt>
                <c:pt idx="8">
                  <c:v>3200</c:v>
                </c:pt>
                <c:pt idx="9">
                  <c:v>3500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Speech Recognition</c:v>
                </c:pt>
              </c:strCache>
            </c:strRef>
          </c:tx>
          <c:spPr>
            <a:solidFill>
              <a:srgbClr val="F59E0B"/>
            </a:solidFill>
            <a:ln w="2286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1800</c:v>
                </c:pt>
                <c:pt idx="1">
                  <c:v>1900</c:v>
                </c:pt>
                <c:pt idx="2">
                  <c:v>1800</c:v>
                </c:pt>
                <c:pt idx="3">
                  <c:v>2000</c:v>
                </c:pt>
                <c:pt idx="4">
                  <c:v>2100</c:v>
                </c:pt>
                <c:pt idx="5">
                  <c:v>2200</c:v>
                </c:pt>
                <c:pt idx="6">
                  <c:v>2300</c:v>
                </c:pt>
                <c:pt idx="7">
                  <c:v>2500</c:v>
                </c:pt>
                <c:pt idx="8">
                  <c:v>2700</c:v>
                </c:pt>
                <c:pt idx="9">
                  <c:v>2900</c:v>
                </c:pt>
              </c:numCache>
            </c:numRef>
          </c:val>
          <c:smooth val="1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Anomaly Detection</c:v>
                </c:pt>
              </c:strCache>
            </c:strRef>
          </c:tx>
          <c:spPr>
            <a:solidFill>
              <a:srgbClr val="10B981"/>
            </a:solidFill>
            <a:ln w="2286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Sheet1!$G$2:$G$11</c:f>
              <c:numCache>
                <c:formatCode>General</c:formatCode>
                <c:ptCount val="10"/>
                <c:pt idx="0">
                  <c:v>1600</c:v>
                </c:pt>
                <c:pt idx="1">
                  <c:v>1700</c:v>
                </c:pt>
                <c:pt idx="2">
                  <c:v>1800</c:v>
                </c:pt>
                <c:pt idx="3">
                  <c:v>1900</c:v>
                </c:pt>
                <c:pt idx="4">
                  <c:v>2200</c:v>
                </c:pt>
                <c:pt idx="5">
                  <c:v>2500</c:v>
                </c:pt>
                <c:pt idx="6">
                  <c:v>2700</c:v>
                </c:pt>
                <c:pt idx="7">
                  <c:v>3000</c:v>
                </c:pt>
                <c:pt idx="8">
                  <c:v>3300</c:v>
                </c:pt>
                <c:pt idx="9">
                  <c:v>3600</c:v>
                </c:pt>
              </c:numCache>
            </c:numRef>
          </c:val>
          <c:smooth val="1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Evolutionary Alg.</c:v>
                </c:pt>
              </c:strCache>
            </c:strRef>
          </c:tx>
          <c:spPr>
            <a:solidFill>
              <a:srgbClr val="64748B"/>
            </a:solidFill>
            <a:ln w="2286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Sheet1!$H$2:$H$11</c:f>
              <c:numCache>
                <c:formatCode>General</c:formatCode>
                <c:ptCount val="10"/>
                <c:pt idx="0">
                  <c:v>900</c:v>
                </c:pt>
                <c:pt idx="1">
                  <c:v>950</c:v>
                </c:pt>
                <c:pt idx="2">
                  <c:v>850</c:v>
                </c:pt>
                <c:pt idx="3">
                  <c:v>900</c:v>
                </c:pt>
                <c:pt idx="4">
                  <c:v>950</c:v>
                </c:pt>
                <c:pt idx="5">
                  <c:v>1000</c:v>
                </c:pt>
                <c:pt idx="6">
                  <c:v>1050</c:v>
                </c:pt>
                <c:pt idx="7">
                  <c:v>1100</c:v>
                </c:pt>
                <c:pt idx="8">
                  <c:v>1000</c:v>
                </c:pt>
                <c:pt idx="9">
                  <c:v>950</c:v>
                </c:pt>
              </c:numCache>
            </c:numRef>
          </c:val>
          <c:smooth val="1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Quantum Computing</c:v>
                </c:pt>
              </c:strCache>
            </c:strRef>
          </c:tx>
          <c:spPr>
            <a:solidFill>
              <a:srgbClr val="0EA5E9"/>
            </a:solidFill>
            <a:ln w="22860" cap="flat">
              <a:solidFill>
                <a:srgbClr val="0EA5E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A5E9"/>
              </a:solidFill>
              <a:ln w="9525" cap="flat">
                <a:solidFill>
                  <a:srgbClr val="0EA5E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Sheet1!$I$2:$I$11</c:f>
              <c:numCache>
                <c:formatCode>General</c:formatCode>
                <c:ptCount val="10"/>
                <c:pt idx="0">
                  <c:v>1400</c:v>
                </c:pt>
                <c:pt idx="1">
                  <c:v>1500</c:v>
                </c:pt>
                <c:pt idx="2">
                  <c:v>1600</c:v>
                </c:pt>
                <c:pt idx="3">
                  <c:v>1800</c:v>
                </c:pt>
                <c:pt idx="4">
                  <c:v>2000</c:v>
                </c:pt>
                <c:pt idx="5">
                  <c:v>2200</c:v>
                </c:pt>
                <c:pt idx="6">
                  <c:v>2500</c:v>
                </c:pt>
                <c:pt idx="7">
                  <c:v>2800</c:v>
                </c:pt>
                <c:pt idx="8">
                  <c:v>3800</c:v>
                </c:pt>
                <c:pt idx="9">
                  <c:v>4200</c:v>
                </c:pt>
              </c:numCache>
            </c:numRef>
          </c:val>
          <c:smooth val="1"/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Privacy-Preserving</c:v>
                </c:pt>
              </c:strCache>
            </c:strRef>
          </c:tx>
          <c:spPr>
            <a:solidFill>
              <a:srgbClr val="F97316"/>
            </a:solidFill>
            <a:ln w="2286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Sheet1!$J$2:$J$11</c:f>
              <c:numCache>
                <c:formatCode>General</c:formatCode>
                <c:ptCount val="10"/>
                <c:pt idx="0">
                  <c:v>1200</c:v>
                </c:pt>
                <c:pt idx="1">
                  <c:v>1300</c:v>
                </c:pt>
                <c:pt idx="2">
                  <c:v>1500</c:v>
                </c:pt>
                <c:pt idx="3">
                  <c:v>1800</c:v>
                </c:pt>
                <c:pt idx="4">
                  <c:v>2100</c:v>
                </c:pt>
                <c:pt idx="5">
                  <c:v>2500</c:v>
                </c:pt>
                <c:pt idx="6">
                  <c:v>2800</c:v>
                </c:pt>
                <c:pt idx="7">
                  <c:v>3100</c:v>
                </c:pt>
                <c:pt idx="8">
                  <c:v>3400</c:v>
                </c:pt>
                <c:pt idx="9">
                  <c:v>3600</c:v>
                </c:pt>
              </c:numCache>
            </c:numRef>
          </c:val>
          <c:smooth val="1"/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Metaheuristic Opt.</c:v>
                </c:pt>
              </c:strCache>
            </c:strRef>
          </c:tx>
          <c:spPr>
            <a:solidFill>
              <a:srgbClr val="EC4899"/>
            </a:solidFill>
            <a:ln w="22860" cap="flat">
              <a:solidFill>
                <a:srgbClr val="EC48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C4899"/>
              </a:solidFill>
              <a:ln w="9525" cap="flat">
                <a:solidFill>
                  <a:srgbClr val="EC48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Sheet1!$K$2:$K$11</c:f>
              <c:numCache>
                <c:formatCode>General</c:formatCode>
                <c:ptCount val="10"/>
                <c:pt idx="0">
                  <c:v>1100</c:v>
                </c:pt>
                <c:pt idx="1">
                  <c:v>1200</c:v>
                </c:pt>
                <c:pt idx="2">
                  <c:v>1300</c:v>
                </c:pt>
                <c:pt idx="3">
                  <c:v>1500</c:v>
                </c:pt>
                <c:pt idx="4">
                  <c:v>1700</c:v>
                </c:pt>
                <c:pt idx="5">
                  <c:v>1900</c:v>
                </c:pt>
                <c:pt idx="6">
                  <c:v>2100</c:v>
                </c:pt>
                <c:pt idx="7">
                  <c:v>2300</c:v>
                </c:pt>
                <c:pt idx="8">
                  <c:v>2500</c:v>
                </c:pt>
                <c:pt idx="9">
                  <c:v>2600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2342"/>
                </a:solidFill>
                <a:latin typeface="Arial"/>
              </a:rPr>
              <a:t>Paper Volume vs High Impact Rate by Topic (our dataset)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Papers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Evolutionary Alg.</c:v>
                  </c:pt>
                  <c:pt idx="1">
                    <c:v>Metaheuristic Opt.</c:v>
                  </c:pt>
                  <c:pt idx="2">
                    <c:v>Speech Recognition</c:v>
                  </c:pt>
                  <c:pt idx="3">
                    <c:v>Quantum Computing</c:v>
                  </c:pt>
                  <c:pt idx="4">
                    <c:v>Sentiment Analysis</c:v>
                  </c:pt>
                  <c:pt idx="5">
                    <c:v>Privacy-Preserving</c:v>
                  </c:pt>
                  <c:pt idx="6">
                    <c:v>Anomaly Detection</c:v>
                  </c:pt>
                  <c:pt idx="7">
                    <c:v>Neural Networks</c:v>
                  </c:pt>
                  <c:pt idx="8">
                    <c:v>Topic Modeling</c:v>
                  </c:pt>
                  <c:pt idx="9">
                    <c:v>NLP Techniques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7861</c:v>
                </c:pt>
                <c:pt idx="1">
                  <c:v>21356</c:v>
                </c:pt>
                <c:pt idx="2">
                  <c:v>21173</c:v>
                </c:pt>
                <c:pt idx="3">
                  <c:v>24258</c:v>
                </c:pt>
                <c:pt idx="4">
                  <c:v>26015</c:v>
                </c:pt>
                <c:pt idx="5">
                  <c:v>27136</c:v>
                </c:pt>
                <c:pt idx="6">
                  <c:v>28186</c:v>
                </c:pt>
                <c:pt idx="7">
                  <c:v>34497</c:v>
                </c:pt>
                <c:pt idx="8">
                  <c:v>48744</c:v>
                </c:pt>
                <c:pt idx="9">
                  <c:v>53776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560320"/>
            <a:ext cx="3200400" cy="32004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FINAL PROJECT  •  DATA SCIENCE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Paper</a:t>
            </a:r>
            <a:endParaRPr lang="en-US" sz="5800" dirty="0"/>
          </a:p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Predictor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citation impact at publication time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and OpenAlex metadata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49884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293,000 papers  •  2015–2024  •  10 AI topics  •  OpenAlex API  •  PyCaret  •  Gradient Boosting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IS GROWING RAPIDLY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173736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242K+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publications in CS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in 2023 alone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AI Index 2025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173736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0789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2.5×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337560" y="1737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publications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→ 2023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3756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AI Index 2025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173736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0789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17920" y="17373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ever become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cited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1792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definition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8412480" cy="1005840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880360"/>
            <a:ext cx="795528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highly cited is an essential academic benchmark — it validates ideas, unlocks further funding, and creates a feedback loop where visibility breeds more visibility.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0" y="4023360"/>
            <a:ext cx="9144000" cy="749808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507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papers that genuinely matter is getting harder every year. How to process this volume?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FACING THIS PROBLEM?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publishers, research funders and universities spend millions deciding which research fields to invest in. Most of the time these decisions are made reactively — based on what is already mainstream, based on citation trends already visible. They need a tool that helps make decisions for the future.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27632"/>
            <a:ext cx="27432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801368"/>
            <a:ext cx="731520" cy="731520"/>
          </a:xfrm>
          <a:prstGeom prst="ellipse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93852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Publishers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3063240"/>
            <a:ext cx="246888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submissions arrive every week. Which ones deserve fast-track review? Which will define a field in five years? These decisions shape a journal's reputation for decades.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11480" y="4544568"/>
            <a:ext cx="2468880" cy="27432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4544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impact = missed prestige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0" y="1627632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627632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06240" y="1801368"/>
            <a:ext cx="731520" cy="73152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938528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3756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Funders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37560" y="3063240"/>
            <a:ext cx="246888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are allocated to research directions — often before those fields have proven themselves. Back the wrong direction and the money is wasted. Back the right one too late and someone else captured the opportunity.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337560" y="4544568"/>
            <a:ext cx="2468880" cy="274320"/>
          </a:xfrm>
          <a:prstGeom prst="rect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37560" y="4544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bets = wasted millions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126480" y="1627632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26480" y="1627632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132320" y="1801368"/>
            <a:ext cx="731520" cy="73152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938528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6364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Strategy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263640" y="3063240"/>
            <a:ext cx="246888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decisions, new research labs, strategic partnerships — all depend on identifying which AI subfields are genuinely rising, not just loudly trending.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263640" y="4544568"/>
            <a:ext cx="2468880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263640" y="4544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decisions = lost talent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model built to help publishers, funders and universities identify high-impact research at publication time — using only metadata available at submission.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286000" cy="1463040"/>
          </a:xfrm>
          <a:prstGeom prst="rect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920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inputs 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time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97480" y="23317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17520" y="1828800"/>
            <a:ext cx="2286000" cy="1463040"/>
          </a:xfrm>
          <a:prstGeom prst="rect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08960" y="1920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(GBC Tuned)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896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293K papers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49240" y="23317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669280" y="1828800"/>
            <a:ext cx="2286000" cy="1463040"/>
          </a:xfrm>
          <a:prstGeom prst="rect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0" y="19202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6072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of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429000"/>
            <a:ext cx="8412480" cy="59436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564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293,000 AI papers  •  2015–2024  •  10 topics  •  OpenAlex API  •  Gradient Boosting Classifier</a:t>
            </a:r>
            <a:endParaRPr lang="en-US" sz="12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206240"/>
            <a:ext cx="237744" cy="23774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1520" y="4187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at publication time — no waiting years for citations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35424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" y="45171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 text, no author history, no prior citations needed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864608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31520" y="4846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— SHAP shows exactly why each paper scored as it did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IN AI RESEARCH 2015–2024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volume across 10 AI topics — from our dataset of 293,000 papers.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417320"/>
          <a:ext cx="58521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4630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0" y="1463040"/>
            <a:ext cx="64008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15361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0" y="1920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from ~2,000 papers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2019 to 8,500 in 2023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driven by LLM boom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265176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2651760"/>
            <a:ext cx="64008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7249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Neural Nets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0" y="31089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 topics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lowest impact rates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crowding effect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384048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3840480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39136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0" y="4297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inflection point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 almost every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spiked sharply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findings from our dataset of 293,000 papers became the key features driving the model's predictions.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2743200" cy="1664208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7160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17904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46304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18470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model feature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65760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Breadth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24140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citing prior work more broadly have consistently higher impact. Strongest predictor confirmed by EDA, Mann-Whitney, feature importance and SHAP.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36392" y="1371600"/>
            <a:ext cx="2743200" cy="1664208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36392" y="137160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517904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85032" y="146304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2.4×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685032" y="18470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be highly cited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273552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Funding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273552" y="24140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papers: 31% high impact rate vs 13% for unfunded. Reflects both resource advantage and funding agency selection effect.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044184" y="1371600"/>
            <a:ext cx="2743200" cy="1664208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44184" y="1371600"/>
            <a:ext cx="27432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517904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92824" y="1463040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6592824" y="18470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collaboration signal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6181344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Collaboration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181344" y="24140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Countries, unique institutions and author count all independently predict high impact. Papers with broader international teams consistently outperform single-country work.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228600" y="3182112"/>
            <a:ext cx="2743200" cy="1664208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228600" y="3182112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328416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77240" y="327355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777240" y="3657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15.6% closed access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36576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Open Access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365760" y="42245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OA papers are nearly 2× more likely to be highly cited. Freely available research gets read and cited more widely — visibility breeds visibility.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3136392" y="3182112"/>
            <a:ext cx="2743200" cy="1664208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136392" y="3182112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3328416"/>
            <a:ext cx="320040" cy="32004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685032" y="327355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24.5%</a:t>
            </a:r>
            <a:endParaRPr lang="en-US" sz="2200" dirty="0"/>
          </a:p>
        </p:txBody>
      </p:sp>
      <p:sp>
        <p:nvSpPr>
          <p:cNvPr id="38" name="Text 31"/>
          <p:cNvSpPr/>
          <p:nvPr/>
        </p:nvSpPr>
        <p:spPr>
          <a:xfrm>
            <a:off x="3685032" y="3657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15.2% for proceedings</a:t>
            </a:r>
            <a:endParaRPr lang="en-US" sz="850" dirty="0"/>
          </a:p>
        </p:txBody>
      </p:sp>
      <p:sp>
        <p:nvSpPr>
          <p:cNvPr id="39" name="Text 32"/>
          <p:cNvSpPr/>
          <p:nvPr/>
        </p:nvSpPr>
        <p:spPr>
          <a:xfrm>
            <a:off x="3273552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Type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3273552" y="42245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articles have nearly double the high impact rate of conference proceedings. More rigorous peer review and permanent indexing drive long-term citation advantage.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6044184" y="3182112"/>
            <a:ext cx="2743200" cy="1664208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6044184" y="3182112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344" y="3328416"/>
            <a:ext cx="320040" cy="32004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592824" y="3273552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6–42%</a:t>
            </a:r>
            <a:endParaRPr lang="en-US" sz="2200" dirty="0"/>
          </a:p>
        </p:txBody>
      </p:sp>
      <p:sp>
        <p:nvSpPr>
          <p:cNvPr id="45" name="Text 37"/>
          <p:cNvSpPr/>
          <p:nvPr/>
        </p:nvSpPr>
        <p:spPr>
          <a:xfrm>
            <a:off x="6592824" y="36576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across 10 topics</a:t>
            </a:r>
            <a:endParaRPr lang="en-US" sz="850" dirty="0"/>
          </a:p>
        </p:txBody>
      </p:sp>
      <p:sp>
        <p:nvSpPr>
          <p:cNvPr id="46" name="Text 38"/>
          <p:cNvSpPr/>
          <p:nvPr/>
        </p:nvSpPr>
        <p:spPr>
          <a:xfrm>
            <a:off x="6181344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Topic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6181344" y="42245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matters enormously. Metaheuristic Optimization leads at 28%. NLP and Neural Networks are lowest at 10% and 9% — crowding dilutes impact rate.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 INSIGHTS FROM 293K PAPERS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0584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32120" y="126187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252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532120" y="161391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16047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32120" y="196596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95681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32120" y="231800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23088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532120" y="267004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6609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32120" y="302209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0129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532120" y="337413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33649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532120" y="372618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0" y="37170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532120" y="4078224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60720" y="4069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532120" y="443026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0" y="442112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20040" y="466344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46177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High impact rate %  (green = highest, red = lowest)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852160" y="1005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contradicts: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852160" y="1463040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852160" y="1463040"/>
            <a:ext cx="64008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1627632"/>
            <a:ext cx="320040" cy="32004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355080" y="1554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dilutes impact rate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6355080" y="18745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(53K papers, 10% impact) and Neural Networks (34K papers, 9% impact) — the most published fields have the lowest impact rates.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5852160" y="2624328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5852160" y="2624328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788920"/>
            <a:ext cx="320040" cy="32004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355080" y="27157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Interdisciplinary beats specialist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6355080" y="303580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OpenAlex can't easily fit into one topic — lower primary topic score — are MORE likely to be high impact. Cross-field work attracts broader citations.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5852160" y="3785616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5852160" y="3785616"/>
            <a:ext cx="64008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3950208"/>
            <a:ext cx="320040" cy="32004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355080" y="38770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fields punch above their weight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6355080" y="419709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Metaheuristic Optimization has just 21K papers but a 28% impact rate. Evolutionary Algorithms — the smallest field — reaches 19%.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81381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 is a screening tool, not a decision maker. It helps prioritise which papers to review first — not whether a paper is good or bad.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20240"/>
            <a:ext cx="41148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116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600200" y="20391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272491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makes the correct prediction 8 out of 10 times.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9202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920240"/>
            <a:ext cx="41148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0116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943600" y="20391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272491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better at ranking high-impact papers than random chance.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429000"/>
            <a:ext cx="41148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5204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600200" y="35478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1480" y="423367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identifies 64% of all high-impact papers — 6 in 10.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34290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3429000"/>
            <a:ext cx="411480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5204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5943600" y="35478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54880" y="423367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predicts high impact, it is correct about half the time.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7548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Gradient Boosting Classifier  •  Trained on 293,000 papers  •  Dataset: OpenAlex API  •  Compared 15 models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097280"/>
            <a:ext cx="4572000" cy="457200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Paper Impact Predictor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365760" cy="3657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16712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paper metadata — year, references, authors, topic, OA status, funding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0720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82549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 a probability score: how likely is this paper to become highly cited?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465576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48386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 — which features drove this specific prediction and why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123944"/>
            <a:ext cx="365760" cy="365760"/>
          </a:xfrm>
          <a:prstGeom prst="ellipse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14223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input — remove funding, switch to proceedings — watch the score respond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1216152"/>
            <a:ext cx="804672" cy="256032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21615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2344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2070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Maturity Bias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38912" y="161848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uses cumulative citations — recent papers are penalised for having less time to accumulate them. F1 drops from 0.64 (2015–16) to 0.49 (2024). Model is still useful for recent papers but less reliable.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" y="30175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3017520"/>
            <a:ext cx="41148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83280" y="3182112"/>
            <a:ext cx="804672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318211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20040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2960" y="3172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Only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38912" y="358444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 text, no abstract content, no author reputation scores. Significant predictive signal is likely still on the table.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75488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754880" y="1051560"/>
            <a:ext cx="41148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863840" y="1216152"/>
            <a:ext cx="804672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863840" y="121615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23444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03520" y="12070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AI Topics Only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919472" y="161848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10 AI subfields from OpenAlex. Generalisation to other research disciplines requires retraining on new data.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754880" y="30175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54880" y="3017520"/>
            <a:ext cx="41148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863840" y="3182112"/>
            <a:ext cx="804672" cy="256032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863840" y="318211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20040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03520" y="3172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Coverage Gaps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919472" y="358444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of papers have missing country, institution and reference data. Missingness flags partially address this but the underlying gap remains.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14300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19786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051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Citation Maturity Bias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4173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Redefine target using first-year citations — removes year bias. first_year_citations already available in dataset, ready to implement.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17720" y="960120"/>
            <a:ext cx="4114800" cy="114300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960120"/>
            <a:ext cx="64008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19786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051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Train / Test Split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257800" y="14173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2015–2021, test on 2022–2024. More realistic evaluation — best done alongside the target redefinition above.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" y="2240280"/>
            <a:ext cx="4114800" cy="114300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320" y="224028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47802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2331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Quality Features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14400" y="26974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CORE conference ranking and Scimago journal quartile — strong signal not yet captured by the model.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17720" y="2240280"/>
            <a:ext cx="4114800" cy="114300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617720" y="2240280"/>
            <a:ext cx="6400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47802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57800" y="2331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Text Features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257800" y="26974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returns abstract inverted index. NLP features on abstract content could significantly improve recall.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274320" y="3520440"/>
            <a:ext cx="4114800" cy="114300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74320" y="352044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758184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4400" y="3611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Reputation Features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914400" y="39776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h-index at time of publication per author. A strong known signal — requires historical snapshot data not yet collected.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617720" y="3520440"/>
            <a:ext cx="4114800" cy="114300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64748B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617720" y="3520440"/>
            <a:ext cx="64008" cy="11430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312" y="3758184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57800" y="3611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Works Citation Quality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257800" y="397764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cited papers as a feature — currently blocked by the scale of 1.7M unique referenced work IDs in the dataset.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C39A">
              <a:alpha val="90000"/>
            </a:srgbClr>
          </a:solidFill>
          <a:ln w="12700">
            <a:solidFill>
              <a:srgbClr val="02C39A">
                <a:alpha val="9000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6 in 10 high-impact papers identified at publication time.  With these improvements: 8 in 10.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6858000" cy="1188720"/>
          </a:xfrm>
          <a:prstGeom prst="rect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59152"/>
            <a:ext cx="6492240" cy="1005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 10 high-impact AI papers identified at publication time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only metadata — no full text, no citations, no author history required.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OpenAlex API (openalex.org)  •  Volume source: Stanford AI Index 2025  •  293,000 papers  •  2015–2024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069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Paper Impact Predictor  •  Bootcamp Final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Paper Impact Predictor</dc:title>
  <dc:subject>PptxGenJS Presentation</dc:subject>
  <dc:creator>PptxGenJS</dc:creator>
  <cp:lastModifiedBy>PptxGenJS</cp:lastModifiedBy>
  <cp:revision>1</cp:revision>
  <dcterms:created xsi:type="dcterms:W3CDTF">2026-04-02T21:56:05Z</dcterms:created>
  <dcterms:modified xsi:type="dcterms:W3CDTF">2026-04-02T21:56:05Z</dcterms:modified>
</cp:coreProperties>
</file>